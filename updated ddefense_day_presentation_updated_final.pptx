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4" d="100"/>
          <a:sy n="64" d="100"/>
        </p:scale>
        <p:origin x="680"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92F153-5EB5-4369-9C6F-93ACF9DB3FE0}"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F9EA9D-C601-4BE5-B345-6A846AA0E798}" type="slidenum">
              <a:rPr lang="en-US" smtClean="0"/>
              <a:t>‹#›</a:t>
            </a:fld>
            <a:endParaRPr lang="en-US"/>
          </a:p>
        </p:txBody>
      </p:sp>
    </p:spTree>
    <p:extLst>
      <p:ext uri="{BB962C8B-B14F-4D97-AF65-F5344CB8AC3E}">
        <p14:creationId xmlns:p14="http://schemas.microsoft.com/office/powerpoint/2010/main" val="1798642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92F153-5EB5-4369-9C6F-93ACF9DB3FE0}"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F9EA9D-C601-4BE5-B345-6A846AA0E798}" type="slidenum">
              <a:rPr lang="en-US" smtClean="0"/>
              <a:t>‹#›</a:t>
            </a:fld>
            <a:endParaRPr lang="en-US"/>
          </a:p>
        </p:txBody>
      </p:sp>
    </p:spTree>
    <p:extLst>
      <p:ext uri="{BB962C8B-B14F-4D97-AF65-F5344CB8AC3E}">
        <p14:creationId xmlns:p14="http://schemas.microsoft.com/office/powerpoint/2010/main" val="991113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092F153-5EB5-4369-9C6F-93ACF9DB3FE0}"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F9EA9D-C601-4BE5-B345-6A846AA0E798}" type="slidenum">
              <a:rPr lang="en-US" smtClean="0"/>
              <a:t>‹#›</a:t>
            </a:fld>
            <a:endParaRPr lang="en-US"/>
          </a:p>
        </p:txBody>
      </p:sp>
    </p:spTree>
    <p:extLst>
      <p:ext uri="{BB962C8B-B14F-4D97-AF65-F5344CB8AC3E}">
        <p14:creationId xmlns:p14="http://schemas.microsoft.com/office/powerpoint/2010/main" val="3507251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92F153-5EB5-4369-9C6F-93ACF9DB3FE0}"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F9EA9D-C601-4BE5-B345-6A846AA0E798}" type="slidenum">
              <a:rPr lang="en-US" smtClean="0"/>
              <a:t>‹#›</a:t>
            </a:fld>
            <a:endParaRPr lang="en-US"/>
          </a:p>
        </p:txBody>
      </p:sp>
    </p:spTree>
    <p:extLst>
      <p:ext uri="{BB962C8B-B14F-4D97-AF65-F5344CB8AC3E}">
        <p14:creationId xmlns:p14="http://schemas.microsoft.com/office/powerpoint/2010/main" val="3837611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92F153-5EB5-4369-9C6F-93ACF9DB3FE0}" type="datetimeFigureOut">
              <a:rPr lang="en-US" smtClean="0"/>
              <a:t>5/10/2026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F9EA9D-C601-4BE5-B345-6A846AA0E798}" type="slidenum">
              <a:rPr lang="en-US" smtClean="0"/>
              <a:t>‹#›</a:t>
            </a:fld>
            <a:endParaRPr lang="en-US"/>
          </a:p>
        </p:txBody>
      </p:sp>
    </p:spTree>
    <p:extLst>
      <p:ext uri="{BB962C8B-B14F-4D97-AF65-F5344CB8AC3E}">
        <p14:creationId xmlns:p14="http://schemas.microsoft.com/office/powerpoint/2010/main" val="616743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92F153-5EB5-4369-9C6F-93ACF9DB3FE0}" type="datetimeFigureOut">
              <a:rPr lang="en-US" smtClean="0"/>
              <a:t>5/10/2026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F9EA9D-C601-4BE5-B345-6A846AA0E798}" type="slidenum">
              <a:rPr lang="en-US" smtClean="0"/>
              <a:t>‹#›</a:t>
            </a:fld>
            <a:endParaRPr lang="en-US"/>
          </a:p>
        </p:txBody>
      </p:sp>
    </p:spTree>
    <p:extLst>
      <p:ext uri="{BB962C8B-B14F-4D97-AF65-F5344CB8AC3E}">
        <p14:creationId xmlns:p14="http://schemas.microsoft.com/office/powerpoint/2010/main" val="1663194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92F153-5EB5-4369-9C6F-93ACF9DB3FE0}" type="datetimeFigureOut">
              <a:rPr lang="en-US" smtClean="0"/>
              <a:t>5/10/2026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F9EA9D-C601-4BE5-B345-6A846AA0E798}" type="slidenum">
              <a:rPr lang="en-US" smtClean="0"/>
              <a:t>‹#›</a:t>
            </a:fld>
            <a:endParaRPr lang="en-US"/>
          </a:p>
        </p:txBody>
      </p:sp>
    </p:spTree>
    <p:extLst>
      <p:ext uri="{BB962C8B-B14F-4D97-AF65-F5344CB8AC3E}">
        <p14:creationId xmlns:p14="http://schemas.microsoft.com/office/powerpoint/2010/main" val="1871323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092F153-5EB5-4369-9C6F-93ACF9DB3FE0}"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F9EA9D-C601-4BE5-B345-6A846AA0E798}" type="slidenum">
              <a:rPr lang="en-US" smtClean="0"/>
              <a:t>‹#›</a:t>
            </a:fld>
            <a:endParaRPr lang="en-US"/>
          </a:p>
        </p:txBody>
      </p:sp>
    </p:spTree>
    <p:extLst>
      <p:ext uri="{BB962C8B-B14F-4D97-AF65-F5344CB8AC3E}">
        <p14:creationId xmlns:p14="http://schemas.microsoft.com/office/powerpoint/2010/main" val="414700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092F153-5EB5-4369-9C6F-93ACF9DB3FE0}"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F9EA9D-C601-4BE5-B345-6A846AA0E798}" type="slidenum">
              <a:rPr lang="en-US" smtClean="0"/>
              <a:t>‹#›</a:t>
            </a:fld>
            <a:endParaRPr lang="en-US"/>
          </a:p>
        </p:txBody>
      </p:sp>
    </p:spTree>
    <p:extLst>
      <p:ext uri="{BB962C8B-B14F-4D97-AF65-F5344CB8AC3E}">
        <p14:creationId xmlns:p14="http://schemas.microsoft.com/office/powerpoint/2010/main" val="3003452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092F153-5EB5-4369-9C6F-93ACF9DB3FE0}"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F9EA9D-C601-4BE5-B345-6A846AA0E798}" type="slidenum">
              <a:rPr lang="en-US" smtClean="0"/>
              <a:t>‹#›</a:t>
            </a:fld>
            <a:endParaRPr lang="en-US"/>
          </a:p>
        </p:txBody>
      </p:sp>
    </p:spTree>
    <p:extLst>
      <p:ext uri="{BB962C8B-B14F-4D97-AF65-F5344CB8AC3E}">
        <p14:creationId xmlns:p14="http://schemas.microsoft.com/office/powerpoint/2010/main" val="366999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092F153-5EB5-4369-9C6F-93ACF9DB3FE0}"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F9EA9D-C601-4BE5-B345-6A846AA0E798}"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4924058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092F153-5EB5-4369-9C6F-93ACF9DB3FE0}"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F9EA9D-C601-4BE5-B345-6A846AA0E798}" type="slidenum">
              <a:rPr lang="en-US" smtClean="0"/>
              <a:t>‹#›</a:t>
            </a:fld>
            <a:endParaRPr lang="en-US"/>
          </a:p>
        </p:txBody>
      </p:sp>
    </p:spTree>
    <p:extLst>
      <p:ext uri="{BB962C8B-B14F-4D97-AF65-F5344CB8AC3E}">
        <p14:creationId xmlns:p14="http://schemas.microsoft.com/office/powerpoint/2010/main" val="16478094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092F153-5EB5-4369-9C6F-93ACF9DB3FE0}"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F9EA9D-C601-4BE5-B345-6A846AA0E79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86134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092F153-5EB5-4369-9C6F-93ACF9DB3FE0}"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F9EA9D-C601-4BE5-B345-6A846AA0E798}" type="slidenum">
              <a:rPr lang="en-US" smtClean="0"/>
              <a:t>‹#›</a:t>
            </a:fld>
            <a:endParaRPr lang="en-US"/>
          </a:p>
        </p:txBody>
      </p:sp>
    </p:spTree>
    <p:extLst>
      <p:ext uri="{BB962C8B-B14F-4D97-AF65-F5344CB8AC3E}">
        <p14:creationId xmlns:p14="http://schemas.microsoft.com/office/powerpoint/2010/main" val="3141359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92F153-5EB5-4369-9C6F-93ACF9DB3FE0}"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F9EA9D-C601-4BE5-B345-6A846AA0E798}" type="slidenum">
              <a:rPr lang="en-US" smtClean="0"/>
              <a:t>‹#›</a:t>
            </a:fld>
            <a:endParaRPr lang="en-US"/>
          </a:p>
        </p:txBody>
      </p:sp>
    </p:spTree>
    <p:extLst>
      <p:ext uri="{BB962C8B-B14F-4D97-AF65-F5344CB8AC3E}">
        <p14:creationId xmlns:p14="http://schemas.microsoft.com/office/powerpoint/2010/main" val="38660547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92F153-5EB5-4369-9C6F-93ACF9DB3FE0}"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F9EA9D-C601-4BE5-B345-6A846AA0E798}" type="slidenum">
              <a:rPr lang="en-US" smtClean="0"/>
              <a:t>‹#›</a:t>
            </a:fld>
            <a:endParaRPr lang="en-US"/>
          </a:p>
        </p:txBody>
      </p:sp>
    </p:spTree>
    <p:extLst>
      <p:ext uri="{BB962C8B-B14F-4D97-AF65-F5344CB8AC3E}">
        <p14:creationId xmlns:p14="http://schemas.microsoft.com/office/powerpoint/2010/main" val="521456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92F153-5EB5-4369-9C6F-93ACF9DB3FE0}" type="datetimeFigureOut">
              <a:rPr lang="en-US" smtClean="0"/>
              <a:t>5/10/2026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2F9EA9D-C601-4BE5-B345-6A846AA0E798}" type="slidenum">
              <a:rPr lang="en-US" smtClean="0"/>
              <a:t>‹#›</a:t>
            </a:fld>
            <a:endParaRPr lang="en-US"/>
          </a:p>
        </p:txBody>
      </p:sp>
    </p:spTree>
    <p:extLst>
      <p:ext uri="{BB962C8B-B14F-4D97-AF65-F5344CB8AC3E}">
        <p14:creationId xmlns:p14="http://schemas.microsoft.com/office/powerpoint/2010/main" val="6285144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propakistani.pk/2026/05/07/punjab-launches-action-against-fake-calls-on-15-emergency-helplin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Final Year Project</a:t>
            </a:r>
            <a:br>
              <a:rPr lang="en-US" dirty="0"/>
            </a:br>
            <a:r>
              <a:rPr lang="en-US" dirty="0"/>
              <a:t>Proposal</a:t>
            </a:r>
          </a:p>
        </p:txBody>
      </p:sp>
      <p:pic>
        <p:nvPicPr>
          <p:cNvPr id="2049" name="Picture 5" descr="logos2 - The University of Lahor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8596" y="309563"/>
            <a:ext cx="1463675" cy="51117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6" descr="Department of Software Engineering, The University of Lahor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68000" y="245268"/>
            <a:ext cx="1146175" cy="63976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4"/>
          <p:cNvSpPr>
            <a:spLocks noChangeArrowheads="1"/>
          </p:cNvSpPr>
          <p:nvPr/>
        </p:nvSpPr>
        <p:spPr bwMode="auto">
          <a:xfrm>
            <a:off x="2796209" y="348173"/>
            <a:ext cx="550627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1pPr>
            <a:lvl2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2pPr>
            <a:lvl3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3pPr>
            <a:lvl4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4pPr>
            <a:lvl5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5pPr>
            <a:lvl6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6pPr>
            <a:lvl7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7pPr>
            <a:lvl8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8pPr>
            <a:lvl9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971800" algn="ctr"/>
                <a:tab pos="5943600" algn="r"/>
              </a:tabLst>
            </a:pPr>
            <a:r>
              <a:rPr kumimoji="0" lang="en-US" altLang="en-US" sz="1200" b="1" i="0" u="none" strike="noStrike" cap="none" normalizeH="0" baseline="0" dirty="0">
                <a:ln>
                  <a:noFill/>
                </a:ln>
                <a:solidFill>
                  <a:srgbClr val="000000"/>
                </a:solidFill>
                <a:effectLst/>
                <a:latin typeface="+mj-lt"/>
                <a:ea typeface="Times New Roman" panose="02020603050405020304" pitchFamily="18" charset="0"/>
              </a:rPr>
              <a:t>Department of Computer Science and Information Technology</a:t>
            </a:r>
            <a:endParaRPr kumimoji="0" lang="en-US" altLang="en-US" sz="1200" b="0" i="0" u="none" strike="noStrike" cap="none" normalizeH="0" baseline="0" dirty="0">
              <a:ln>
                <a:noFill/>
              </a:ln>
              <a:solidFill>
                <a:schemeClr val="tx1"/>
              </a:solidFill>
              <a:effectLst/>
              <a:latin typeface="+mj-lt"/>
              <a:ea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971800" algn="ctr"/>
                <a:tab pos="5943600" algn="r"/>
              </a:tabLst>
            </a:pPr>
            <a:r>
              <a:rPr kumimoji="0" lang="en-US" altLang="en-US" sz="1400" b="1" i="0" u="none" strike="noStrike" cap="none" normalizeH="0" baseline="0" dirty="0">
                <a:ln>
                  <a:noFill/>
                </a:ln>
                <a:solidFill>
                  <a:srgbClr val="000000"/>
                </a:solidFill>
                <a:effectLst/>
                <a:latin typeface="+mj-lt"/>
                <a:ea typeface="Times New Roman" panose="02020603050405020304" pitchFamily="18" charset="0"/>
              </a:rPr>
              <a:t>University of Lahore</a:t>
            </a:r>
            <a:endParaRPr kumimoji="0" lang="en-US" altLang="en-US" sz="1200" b="0" i="0" u="none" strike="noStrike" cap="none" normalizeH="0" baseline="0" dirty="0">
              <a:ln>
                <a:noFill/>
              </a:ln>
              <a:solidFill>
                <a:schemeClr val="tx1"/>
              </a:solidFill>
              <a:effectLst/>
              <a:latin typeface="+mj-lt"/>
              <a:ea typeface="Times New Roman" panose="02020603050405020304" pitchFamily="18" charset="0"/>
            </a:endParaRPr>
          </a:p>
        </p:txBody>
      </p:sp>
    </p:spTree>
    <p:extLst>
      <p:ext uri="{BB962C8B-B14F-4D97-AF65-F5344CB8AC3E}">
        <p14:creationId xmlns:p14="http://schemas.microsoft.com/office/powerpoint/2010/main" val="2957061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Student Details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83408773"/>
              </p:ext>
            </p:extLst>
          </p:nvPr>
        </p:nvGraphicFramePr>
        <p:xfrm>
          <a:off x="677334" y="1930401"/>
          <a:ext cx="8596667" cy="2637789"/>
        </p:xfrm>
        <a:graphic>
          <a:graphicData uri="http://schemas.openxmlformats.org/drawingml/2006/table">
            <a:tbl>
              <a:tblPr firstRow="1" firstCol="1" bandRow="1">
                <a:tableStyleId>{5C22544A-7EE6-4342-B048-85BDC9FD1C3A}</a:tableStyleId>
              </a:tblPr>
              <a:tblGrid>
                <a:gridCol w="1402130">
                  <a:extLst>
                    <a:ext uri="{9D8B030D-6E8A-4147-A177-3AD203B41FA5}">
                      <a16:colId xmlns:a16="http://schemas.microsoft.com/office/drawing/2014/main" val="2230684844"/>
                    </a:ext>
                  </a:extLst>
                </a:gridCol>
                <a:gridCol w="3144449">
                  <a:extLst>
                    <a:ext uri="{9D8B030D-6E8A-4147-A177-3AD203B41FA5}">
                      <a16:colId xmlns:a16="http://schemas.microsoft.com/office/drawing/2014/main" val="4122998143"/>
                    </a:ext>
                  </a:extLst>
                </a:gridCol>
                <a:gridCol w="4050088">
                  <a:extLst>
                    <a:ext uri="{9D8B030D-6E8A-4147-A177-3AD203B41FA5}">
                      <a16:colId xmlns:a16="http://schemas.microsoft.com/office/drawing/2014/main" val="2264901675"/>
                    </a:ext>
                  </a:extLst>
                </a:gridCol>
              </a:tblGrid>
              <a:tr h="506751">
                <a:tc>
                  <a:txBody>
                    <a:bodyPr/>
                    <a:lstStyle/>
                    <a:p>
                      <a:pPr marL="0" marR="0" algn="ctr">
                        <a:lnSpc>
                          <a:spcPct val="107000"/>
                        </a:lnSpc>
                        <a:spcBef>
                          <a:spcPts val="0"/>
                        </a:spcBef>
                        <a:spcAft>
                          <a:spcPts val="0"/>
                        </a:spcAft>
                      </a:pPr>
                      <a:r>
                        <a:rPr lang="en-US" sz="1800">
                          <a:solidFill>
                            <a:schemeClr val="tx1"/>
                          </a:solidFill>
                          <a:effectLst/>
                        </a:rPr>
                        <a:t>SAP ID</a:t>
                      </a:r>
                      <a:endParaRPr lang="en-US"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a:solidFill>
                            <a:schemeClr val="tx1"/>
                          </a:solidFill>
                          <a:effectLst/>
                        </a:rPr>
                        <a:t>Student Name</a:t>
                      </a:r>
                      <a:endParaRPr lang="en-US"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a:solidFill>
                            <a:schemeClr val="tx1"/>
                          </a:solidFill>
                          <a:effectLst/>
                        </a:rPr>
                        <a:t>Email Address</a:t>
                      </a:r>
                      <a:endParaRPr lang="en-US"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58819868"/>
                  </a:ext>
                </a:extLst>
              </a:tr>
              <a:tr h="710346">
                <a:tc>
                  <a:txBody>
                    <a:bodyPr/>
                    <a:lstStyle/>
                    <a:p>
                      <a:pPr marL="0" marR="0" algn="ctr">
                        <a:lnSpc>
                          <a:spcPct val="150000"/>
                        </a:lnSpc>
                        <a:spcBef>
                          <a:spcPts val="0"/>
                        </a:spcBef>
                        <a:spcAft>
                          <a:spcPts val="1200"/>
                        </a:spcAft>
                      </a:pPr>
                      <a:r>
                        <a:rPr lang="en-US" sz="1800" dirty="0">
                          <a:solidFill>
                            <a:schemeClr val="tx1"/>
                          </a:solidFill>
                          <a:effectLst/>
                        </a:rPr>
                        <a:t>70146724 </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1200"/>
                        </a:spcAft>
                      </a:pPr>
                      <a:r>
                        <a:rPr lang="en-US" sz="1800" dirty="0">
                          <a:solidFill>
                            <a:schemeClr val="tx1"/>
                          </a:solidFill>
                          <a:effectLst/>
                        </a:rPr>
                        <a:t>Muhammad Aqib Munir </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1200"/>
                        </a:spcAft>
                      </a:pPr>
                      <a:r>
                        <a:rPr lang="en-US" sz="1800" dirty="0">
                          <a:solidFill>
                            <a:schemeClr val="tx1"/>
                          </a:solidFill>
                          <a:effectLst/>
                        </a:rPr>
                        <a:t>70146724@student.uol.edu.pk </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88229879"/>
                  </a:ext>
                </a:extLst>
              </a:tr>
              <a:tr h="710346">
                <a:tc>
                  <a:txBody>
                    <a:bodyPr/>
                    <a:lstStyle/>
                    <a:p>
                      <a:pPr marL="0" marR="0" algn="ctr">
                        <a:lnSpc>
                          <a:spcPct val="150000"/>
                        </a:lnSpc>
                        <a:spcBef>
                          <a:spcPts val="0"/>
                        </a:spcBef>
                        <a:spcAft>
                          <a:spcPts val="1200"/>
                        </a:spcAft>
                      </a:pPr>
                      <a:r>
                        <a:rPr lang="en-US" sz="1800" dirty="0">
                          <a:solidFill>
                            <a:schemeClr val="tx1"/>
                          </a:solidFill>
                          <a:effectLst/>
                        </a:rPr>
                        <a:t>70146924 </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1200"/>
                        </a:spcAft>
                      </a:pPr>
                      <a:r>
                        <a:rPr lang="en-US" sz="1800" dirty="0">
                          <a:solidFill>
                            <a:schemeClr val="tx1"/>
                          </a:solidFill>
                          <a:effectLst/>
                        </a:rPr>
                        <a:t>Jawad Ahmed </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1200"/>
                        </a:spcAft>
                      </a:pPr>
                      <a:r>
                        <a:rPr lang="en-US" sz="1800" dirty="0">
                          <a:solidFill>
                            <a:schemeClr val="tx1"/>
                          </a:solidFill>
                          <a:effectLst/>
                        </a:rPr>
                        <a:t>70146924@student.uol.edu.pk </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50260765"/>
                  </a:ext>
                </a:extLst>
              </a:tr>
              <a:tr h="710346">
                <a:tc>
                  <a:txBody>
                    <a:bodyPr/>
                    <a:lstStyle/>
                    <a:p>
                      <a:pPr marL="0" marR="0" algn="ctr">
                        <a:lnSpc>
                          <a:spcPct val="150000"/>
                        </a:lnSpc>
                        <a:spcBef>
                          <a:spcPts val="0"/>
                        </a:spcBef>
                        <a:spcAft>
                          <a:spcPts val="1200"/>
                        </a:spcAft>
                      </a:pPr>
                      <a:r>
                        <a:rPr lang="en-US" sz="1800" dirty="0">
                          <a:solidFill>
                            <a:schemeClr val="tx1"/>
                          </a:solidFill>
                          <a:effectLst/>
                        </a:rPr>
                        <a:t>70147348 </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1200"/>
                        </a:spcAft>
                      </a:pPr>
                      <a:r>
                        <a:rPr lang="en-US" sz="1800" dirty="0">
                          <a:solidFill>
                            <a:schemeClr val="tx1"/>
                          </a:solidFill>
                          <a:effectLst/>
                        </a:rPr>
                        <a:t>Ali Hassan  </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50000"/>
                        </a:lnSpc>
                        <a:spcBef>
                          <a:spcPts val="0"/>
                        </a:spcBef>
                        <a:spcAft>
                          <a:spcPts val="1200"/>
                        </a:spcAft>
                      </a:pPr>
                      <a:r>
                        <a:rPr lang="en-US" sz="1800" dirty="0">
                          <a:solidFill>
                            <a:schemeClr val="tx1"/>
                          </a:solidFill>
                          <a:effectLst/>
                        </a:rPr>
                        <a:t>70147348@student.uol.edu.pk </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31603018"/>
                  </a:ext>
                </a:extLst>
              </a:tr>
            </a:tbl>
          </a:graphicData>
        </a:graphic>
      </p:graphicFrame>
    </p:spTree>
    <p:extLst>
      <p:ext uri="{BB962C8B-B14F-4D97-AF65-F5344CB8AC3E}">
        <p14:creationId xmlns:p14="http://schemas.microsoft.com/office/powerpoint/2010/main" val="3493252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Project Details</a:t>
            </a:r>
          </a:p>
        </p:txBody>
      </p:sp>
      <p:sp>
        <p:nvSpPr>
          <p:cNvPr id="3" name="Content Placeholder 2"/>
          <p:cNvSpPr>
            <a:spLocks noGrp="1"/>
          </p:cNvSpPr>
          <p:nvPr>
            <p:ph idx="1"/>
          </p:nvPr>
        </p:nvSpPr>
        <p:spPr/>
        <p:txBody>
          <a:bodyPr>
            <a:normAutofit/>
          </a:bodyPr>
          <a:lstStyle/>
          <a:p>
            <a:r>
              <a:rPr lang="en-US" sz="2000" b="1" dirty="0">
                <a:solidFill>
                  <a:schemeClr val="tx1"/>
                </a:solidFill>
              </a:rPr>
              <a:t>Supervisor Name: </a:t>
            </a:r>
            <a:r>
              <a:rPr lang="en-US" sz="2000" dirty="0">
                <a:solidFill>
                  <a:schemeClr val="tx1"/>
                </a:solidFill>
              </a:rPr>
              <a:t> Aqsa Shahzad</a:t>
            </a:r>
          </a:p>
          <a:p>
            <a:r>
              <a:rPr lang="en-US" sz="2000" b="1" dirty="0">
                <a:solidFill>
                  <a:schemeClr val="tx1"/>
                </a:solidFill>
              </a:rPr>
              <a:t>Project Title</a:t>
            </a:r>
            <a:r>
              <a:rPr lang="en-US" sz="2000" dirty="0">
                <a:solidFill>
                  <a:schemeClr val="tx1"/>
                </a:solidFill>
              </a:rPr>
              <a:t>: </a:t>
            </a:r>
            <a:r>
              <a:rPr lang="en-US" dirty="0"/>
              <a:t>RAHBAR: Intelligent </a:t>
            </a:r>
            <a:r>
              <a:rPr lang="en-US" dirty="0" smtClean="0"/>
              <a:t>Transit Security </a:t>
            </a:r>
            <a:r>
              <a:rPr lang="en-US" dirty="0"/>
              <a:t>and SOS System</a:t>
            </a:r>
            <a:endParaRPr lang="en-US" sz="2000" dirty="0">
              <a:solidFill>
                <a:schemeClr val="tx1"/>
              </a:solidFill>
            </a:endParaRPr>
          </a:p>
          <a:p>
            <a:r>
              <a:rPr lang="en-US" sz="2000" b="1" dirty="0">
                <a:solidFill>
                  <a:schemeClr val="tx1"/>
                </a:solidFill>
              </a:rPr>
              <a:t>Project Description: </a:t>
            </a:r>
          </a:p>
          <a:p>
            <a:pPr marL="0" indent="0" algn="just">
              <a:buNone/>
            </a:pPr>
            <a:r>
              <a:rPr lang="en-US" sz="2000" dirty="0">
                <a:solidFill>
                  <a:schemeClr val="tx1"/>
                </a:solidFill>
              </a:rPr>
              <a:t>                              </a:t>
            </a:r>
            <a:r>
              <a:rPr lang="en-US" dirty="0"/>
              <a:t>RAHBAR is an intelligent personal safety application designed for secure commuting. We combine AI-based threat detection and a real-time Guardian verification process to reduce false alarms. Using silent triggers and automated alerts, the system ensures continuous tracking ensures continuous location tracking even in offline conditions, along with protection against phone snatching.</a:t>
            </a:r>
            <a:endParaRPr lang="en-US" sz="2000" dirty="0">
              <a:solidFill>
                <a:schemeClr val="tx1"/>
              </a:solidFill>
            </a:endParaRPr>
          </a:p>
        </p:txBody>
      </p:sp>
    </p:spTree>
    <p:extLst>
      <p:ext uri="{BB962C8B-B14F-4D97-AF65-F5344CB8AC3E}">
        <p14:creationId xmlns:p14="http://schemas.microsoft.com/office/powerpoint/2010/main" val="2814709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813181"/>
            <a:ext cx="8596668" cy="766164"/>
          </a:xfrm>
        </p:spPr>
        <p:txBody>
          <a:bodyPr/>
          <a:lstStyle/>
          <a:p>
            <a:r>
              <a:rPr lang="en-US" b="1" dirty="0"/>
              <a:t>Project Details</a:t>
            </a:r>
          </a:p>
        </p:txBody>
      </p:sp>
      <p:sp>
        <p:nvSpPr>
          <p:cNvPr id="3" name="Content Placeholder 2"/>
          <p:cNvSpPr>
            <a:spLocks noGrp="1"/>
          </p:cNvSpPr>
          <p:nvPr>
            <p:ph idx="1"/>
          </p:nvPr>
        </p:nvSpPr>
        <p:spPr>
          <a:xfrm>
            <a:off x="677334" y="1579345"/>
            <a:ext cx="8596668" cy="4960224"/>
          </a:xfrm>
        </p:spPr>
        <p:txBody>
          <a:bodyPr>
            <a:normAutofit fontScale="25000" lnSpcReduction="20000"/>
          </a:bodyPr>
          <a:lstStyle/>
          <a:p>
            <a:r>
              <a:rPr lang="en-US" sz="7200" b="1" dirty="0">
                <a:solidFill>
                  <a:schemeClr val="tx1"/>
                </a:solidFill>
              </a:rPr>
              <a:t>Problem Statement:</a:t>
            </a:r>
          </a:p>
          <a:p>
            <a:pPr marL="0" indent="0">
              <a:buNone/>
            </a:pPr>
            <a:r>
              <a:rPr lang="en-US" sz="7200" b="1" dirty="0"/>
              <a:t>Offline Connectivity Limitation:</a:t>
            </a:r>
            <a:r>
              <a:rPr lang="en-US" sz="7200" dirty="0"/>
              <a:t> Current systems fail to provide location data when the device loses internet or cellular connectivity.</a:t>
            </a:r>
          </a:p>
          <a:p>
            <a:pPr marL="0" indent="0">
              <a:buNone/>
            </a:pPr>
            <a:r>
              <a:rPr lang="en-US" sz="7200" b="1" dirty="0"/>
              <a:t>SOS Mistrust:</a:t>
            </a:r>
            <a:r>
              <a:rPr lang="en-US" sz="7200" dirty="0"/>
              <a:t> A vast majority (approx. 80%) of panic signals  in Pakistan are accidental, leading to a “fake calls"  where police stops prioritizing safety app alerts. [1]</a:t>
            </a:r>
          </a:p>
          <a:p>
            <a:pPr marL="0" indent="0">
              <a:buNone/>
            </a:pPr>
            <a:r>
              <a:rPr lang="en-US" sz="7200" b="1" dirty="0"/>
              <a:t>Passenger Vulnerability:</a:t>
            </a:r>
            <a:r>
              <a:rPr lang="en-US" sz="7200" dirty="0"/>
              <a:t> Current systems lack a multi-trigger system for citizens if they are in extreme danger situation or if their phone is stolen and powered off by an attacker.</a:t>
            </a:r>
            <a:endParaRPr lang="en-US" sz="7200" dirty="0">
              <a:solidFill>
                <a:schemeClr val="tx1"/>
              </a:solidFill>
            </a:endParaRPr>
          </a:p>
          <a:p>
            <a:r>
              <a:rPr lang="en-US" sz="7200" b="1" dirty="0">
                <a:solidFill>
                  <a:schemeClr val="tx1"/>
                </a:solidFill>
              </a:rPr>
              <a:t>Major Functionality:</a:t>
            </a:r>
          </a:p>
          <a:p>
            <a:pPr lvl="1"/>
            <a:r>
              <a:rPr lang="en-GB" sz="7200" b="1" dirty="0"/>
              <a:t>AI Threat Detection System</a:t>
            </a:r>
            <a:r>
              <a:rPr lang="en-GB" sz="7200" b="1" dirty="0">
                <a:sym typeface="Wingdings" panose="05000000000000000000" pitchFamily="2" charset="2"/>
              </a:rPr>
              <a:t> </a:t>
            </a:r>
            <a:r>
              <a:rPr lang="en-US" sz="7200" dirty="0">
                <a:sym typeface="Wingdings" panose="05000000000000000000" pitchFamily="2" charset="2"/>
              </a:rPr>
              <a:t>Run</a:t>
            </a:r>
            <a:r>
              <a:rPr lang="en-US" sz="7200" b="1" dirty="0">
                <a:sym typeface="Wingdings" panose="05000000000000000000" pitchFamily="2" charset="2"/>
              </a:rPr>
              <a:t>s </a:t>
            </a:r>
            <a:r>
              <a:rPr lang="en-US" sz="7200" dirty="0"/>
              <a:t>locally on the device if there no internet connection to silently detect sounds of distress.(example: </a:t>
            </a:r>
            <a:r>
              <a:rPr lang="en-GB" sz="7200" dirty="0"/>
              <a:t>YAMNet or a Quantized CNN)</a:t>
            </a:r>
            <a:endParaRPr lang="en-US" sz="7200" dirty="0"/>
          </a:p>
          <a:p>
            <a:pPr lvl="1"/>
            <a:r>
              <a:rPr lang="en-GB" sz="7200" b="1" dirty="0"/>
              <a:t>Guardian Matrix</a:t>
            </a:r>
            <a:r>
              <a:rPr lang="en-GB" sz="7200" b="1" dirty="0">
                <a:sym typeface="Wingdings" panose="05000000000000000000" pitchFamily="2" charset="2"/>
              </a:rPr>
              <a:t>  </a:t>
            </a:r>
            <a:r>
              <a:rPr lang="en-US" sz="7200" dirty="0"/>
              <a:t>Verification system to stream live audio to guardians and filter out accidental triggers.</a:t>
            </a:r>
            <a:endParaRPr lang="en-GB" sz="7200" b="1" dirty="0"/>
          </a:p>
          <a:p>
            <a:pPr lvl="1"/>
            <a:r>
              <a:rPr lang="en-GB" sz="7200" b="1" dirty="0"/>
              <a:t>Command Center</a:t>
            </a:r>
            <a:r>
              <a:rPr lang="en-GB" sz="7200" b="1" dirty="0">
                <a:sym typeface="Wingdings" panose="05000000000000000000" pitchFamily="2" charset="2"/>
              </a:rPr>
              <a:t> </a:t>
            </a:r>
            <a:r>
              <a:rPr lang="en-US" sz="7200" dirty="0"/>
              <a:t> A centralized dashboard to monitor verified alerts and simulate emergency response coordination.</a:t>
            </a:r>
          </a:p>
          <a:p>
            <a:pPr lvl="1"/>
            <a:r>
              <a:rPr lang="en-GB" sz="7200" b="1" dirty="0"/>
              <a:t>SMS Backup Mechanism</a:t>
            </a:r>
            <a:r>
              <a:rPr lang="en-GB" sz="7200" b="1" dirty="0">
                <a:sym typeface="Wingdings" panose="05000000000000000000" pitchFamily="2" charset="2"/>
              </a:rPr>
              <a:t> </a:t>
            </a:r>
            <a:r>
              <a:rPr lang="en-US" sz="7200" dirty="0"/>
              <a:t> Send compressed location </a:t>
            </a:r>
            <a:r>
              <a:rPr lang="en-GB" sz="7200" dirty="0"/>
              <a:t>updates via SMS </a:t>
            </a:r>
            <a:r>
              <a:rPr lang="en-US" sz="7200" dirty="0"/>
              <a:t>to ensure tracking even in cellular data dead zones.</a:t>
            </a:r>
            <a:endParaRPr lang="en-GB" sz="7200" b="1" dirty="0"/>
          </a:p>
          <a:p>
            <a:pPr lvl="1"/>
            <a:endParaRPr lang="en-GB" sz="6400" b="1" dirty="0"/>
          </a:p>
          <a:p>
            <a:pPr lvl="1"/>
            <a:endParaRPr lang="en-GB" sz="2700" b="1" dirty="0"/>
          </a:p>
          <a:p>
            <a:pPr marL="457200" lvl="1" indent="0">
              <a:buNone/>
            </a:pPr>
            <a:r>
              <a:rPr lang="en-US" sz="1800" dirty="0">
                <a:solidFill>
                  <a:schemeClr val="tx1"/>
                </a:solidFill>
              </a:rPr>
              <a:t>  </a:t>
            </a:r>
          </a:p>
        </p:txBody>
      </p:sp>
    </p:spTree>
    <p:extLst>
      <p:ext uri="{BB962C8B-B14F-4D97-AF65-F5344CB8AC3E}">
        <p14:creationId xmlns:p14="http://schemas.microsoft.com/office/powerpoint/2010/main" val="1603990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02365"/>
          </a:xfrm>
        </p:spPr>
        <p:txBody>
          <a:bodyPr/>
          <a:lstStyle/>
          <a:p>
            <a:r>
              <a:rPr lang="en-US" b="1" dirty="0"/>
              <a:t>Project Details</a:t>
            </a:r>
          </a:p>
        </p:txBody>
      </p:sp>
      <p:sp>
        <p:nvSpPr>
          <p:cNvPr id="3" name="Content Placeholder 2"/>
          <p:cNvSpPr>
            <a:spLocks noGrp="1"/>
          </p:cNvSpPr>
          <p:nvPr>
            <p:ph idx="1"/>
          </p:nvPr>
        </p:nvSpPr>
        <p:spPr>
          <a:xfrm>
            <a:off x="677334" y="1454912"/>
            <a:ext cx="8596668" cy="4150759"/>
          </a:xfrm>
        </p:spPr>
        <p:txBody>
          <a:bodyPr>
            <a:normAutofit/>
          </a:bodyPr>
          <a:lstStyle/>
          <a:p>
            <a:r>
              <a:rPr lang="en-US" sz="2000" b="1" dirty="0">
                <a:solidFill>
                  <a:schemeClr val="tx1"/>
                </a:solidFill>
              </a:rPr>
              <a:t>Targeted Users:</a:t>
            </a:r>
          </a:p>
          <a:p>
            <a:pPr lvl="1"/>
            <a:r>
              <a:rPr lang="en-US" sz="1800" dirty="0">
                <a:solidFill>
                  <a:schemeClr val="tx1"/>
                </a:solidFill>
              </a:rPr>
              <a:t> Students and Employees who travels alone.</a:t>
            </a:r>
          </a:p>
          <a:p>
            <a:pPr lvl="1"/>
            <a:r>
              <a:rPr lang="en-US" sz="1800" dirty="0">
                <a:solidFill>
                  <a:schemeClr val="tx1"/>
                </a:solidFill>
              </a:rPr>
              <a:t> Connected Guardians and Family Members</a:t>
            </a:r>
          </a:p>
          <a:p>
            <a:pPr lvl="1"/>
            <a:r>
              <a:rPr lang="en-US" sz="1800" dirty="0">
                <a:solidFill>
                  <a:schemeClr val="tx1"/>
                </a:solidFill>
              </a:rPr>
              <a:t> Police and Dispatch centers</a:t>
            </a:r>
          </a:p>
          <a:p>
            <a:pPr lvl="1"/>
            <a:r>
              <a:rPr lang="en-US" sz="1800" dirty="0">
                <a:solidFill>
                  <a:schemeClr val="tx1"/>
                </a:solidFill>
              </a:rPr>
              <a:t>Command and control operators</a:t>
            </a:r>
          </a:p>
          <a:p>
            <a:r>
              <a:rPr lang="en-US" sz="2000" b="1" dirty="0">
                <a:solidFill>
                  <a:schemeClr val="tx1"/>
                </a:solidFill>
              </a:rPr>
              <a:t>Domain/Research Area(s):</a:t>
            </a:r>
          </a:p>
          <a:p>
            <a:pPr lvl="1"/>
            <a:r>
              <a:rPr lang="en-US" sz="1800" dirty="0">
                <a:solidFill>
                  <a:schemeClr val="tx1"/>
                </a:solidFill>
              </a:rPr>
              <a:t> Artificial Intelligence (AI)</a:t>
            </a:r>
          </a:p>
          <a:p>
            <a:pPr lvl="1"/>
            <a:r>
              <a:rPr lang="en-US" sz="1800" dirty="0">
                <a:solidFill>
                  <a:schemeClr val="tx1"/>
                </a:solidFill>
              </a:rPr>
              <a:t> Mobile development </a:t>
            </a:r>
          </a:p>
          <a:p>
            <a:pPr lvl="1"/>
            <a:r>
              <a:rPr lang="en-GB" sz="1800" dirty="0"/>
              <a:t>Real-Time GPS Tracking</a:t>
            </a:r>
          </a:p>
          <a:p>
            <a:pPr lvl="1"/>
            <a:r>
              <a:rPr lang="en-GB" sz="1800" dirty="0"/>
              <a:t>Public Safety Systems</a:t>
            </a:r>
            <a:endParaRPr lang="en-US" sz="1800" dirty="0">
              <a:solidFill>
                <a:schemeClr val="tx1"/>
              </a:solidFill>
            </a:endParaRPr>
          </a:p>
        </p:txBody>
      </p:sp>
    </p:spTree>
    <p:extLst>
      <p:ext uri="{BB962C8B-B14F-4D97-AF65-F5344CB8AC3E}">
        <p14:creationId xmlns:p14="http://schemas.microsoft.com/office/powerpoint/2010/main" val="4146404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599"/>
            <a:ext cx="8596668" cy="811697"/>
          </a:xfrm>
        </p:spPr>
        <p:txBody>
          <a:bodyPr/>
          <a:lstStyle/>
          <a:p>
            <a:r>
              <a:rPr lang="en-US" b="1" dirty="0"/>
              <a:t>Background </a:t>
            </a:r>
          </a:p>
        </p:txBody>
      </p:sp>
      <p:sp>
        <p:nvSpPr>
          <p:cNvPr id="3" name="Content Placeholder 2"/>
          <p:cNvSpPr>
            <a:spLocks noGrp="1"/>
          </p:cNvSpPr>
          <p:nvPr>
            <p:ph idx="1"/>
          </p:nvPr>
        </p:nvSpPr>
        <p:spPr>
          <a:xfrm>
            <a:off x="766786" y="1335641"/>
            <a:ext cx="8596668" cy="3880773"/>
          </a:xfrm>
        </p:spPr>
        <p:txBody>
          <a:bodyPr>
            <a:normAutofit/>
          </a:bodyPr>
          <a:lstStyle/>
          <a:p>
            <a:r>
              <a:rPr lang="en-US" sz="2000" dirty="0">
                <a:solidFill>
                  <a:schemeClr val="tx1"/>
                </a:solidFill>
              </a:rPr>
              <a:t>Competitor Product Similarity Index</a:t>
            </a:r>
          </a:p>
          <a:p>
            <a:endParaRPr lang="en-US" sz="2000" dirty="0">
              <a:solidFill>
                <a:schemeClr val="tx1"/>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10460303"/>
              </p:ext>
            </p:extLst>
          </p:nvPr>
        </p:nvGraphicFramePr>
        <p:xfrm>
          <a:off x="767144" y="1863793"/>
          <a:ext cx="8596310" cy="4774635"/>
        </p:xfrm>
        <a:graphic>
          <a:graphicData uri="http://schemas.openxmlformats.org/drawingml/2006/table">
            <a:tbl>
              <a:tblPr firstRow="1" firstCol="1" bandRow="1">
                <a:tableStyleId>{5C22544A-7EE6-4342-B048-85BDC9FD1C3A}</a:tableStyleId>
              </a:tblPr>
              <a:tblGrid>
                <a:gridCol w="1719262">
                  <a:extLst>
                    <a:ext uri="{9D8B030D-6E8A-4147-A177-3AD203B41FA5}">
                      <a16:colId xmlns:a16="http://schemas.microsoft.com/office/drawing/2014/main" val="1351030984"/>
                    </a:ext>
                  </a:extLst>
                </a:gridCol>
                <a:gridCol w="1719262">
                  <a:extLst>
                    <a:ext uri="{9D8B030D-6E8A-4147-A177-3AD203B41FA5}">
                      <a16:colId xmlns:a16="http://schemas.microsoft.com/office/drawing/2014/main" val="1684783348"/>
                    </a:ext>
                  </a:extLst>
                </a:gridCol>
                <a:gridCol w="1719262">
                  <a:extLst>
                    <a:ext uri="{9D8B030D-6E8A-4147-A177-3AD203B41FA5}">
                      <a16:colId xmlns:a16="http://schemas.microsoft.com/office/drawing/2014/main" val="4176041826"/>
                    </a:ext>
                  </a:extLst>
                </a:gridCol>
                <a:gridCol w="1719262">
                  <a:extLst>
                    <a:ext uri="{9D8B030D-6E8A-4147-A177-3AD203B41FA5}">
                      <a16:colId xmlns:a16="http://schemas.microsoft.com/office/drawing/2014/main" val="100954372"/>
                    </a:ext>
                  </a:extLst>
                </a:gridCol>
                <a:gridCol w="1719262">
                  <a:extLst>
                    <a:ext uri="{9D8B030D-6E8A-4147-A177-3AD203B41FA5}">
                      <a16:colId xmlns:a16="http://schemas.microsoft.com/office/drawing/2014/main" val="1081620190"/>
                    </a:ext>
                  </a:extLst>
                </a:gridCol>
              </a:tblGrid>
              <a:tr h="958920">
                <a:tc>
                  <a:txBody>
                    <a:bodyPr/>
                    <a:lstStyle/>
                    <a:p>
                      <a:pPr marL="0" marR="0" algn="ctr">
                        <a:lnSpc>
                          <a:spcPct val="107000"/>
                        </a:lnSpc>
                        <a:spcBef>
                          <a:spcPts val="0"/>
                        </a:spcBef>
                        <a:spcAft>
                          <a:spcPts val="0"/>
                        </a:spcAft>
                      </a:pPr>
                      <a:r>
                        <a:rPr lang="en-US" sz="2000">
                          <a:solidFill>
                            <a:schemeClr val="tx1"/>
                          </a:solidFill>
                          <a:effectLst/>
                        </a:rPr>
                        <a:t> </a:t>
                      </a:r>
                      <a:endParaRPr lang="en-US"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kern="1200" dirty="0">
                          <a:solidFill>
                            <a:schemeClr val="tx1"/>
                          </a:solidFill>
                          <a:effectLst/>
                          <a:latin typeface="+mn-lt"/>
                          <a:ea typeface="+mn-ea"/>
                          <a:cs typeface="+mn-cs"/>
                        </a:rPr>
                        <a:t>Punjab Police Women Safety App</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kern="1200" dirty="0">
                          <a:solidFill>
                            <a:schemeClr val="tx1"/>
                          </a:solidFill>
                          <a:effectLst/>
                          <a:latin typeface="+mn-lt"/>
                          <a:ea typeface="+mn-ea"/>
                          <a:cs typeface="+mn-cs"/>
                        </a:rPr>
                        <a:t>Life360</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kern="1200" dirty="0">
                          <a:solidFill>
                            <a:schemeClr val="tx1"/>
                          </a:solidFill>
                          <a:effectLst/>
                          <a:latin typeface="+mn-lt"/>
                          <a:ea typeface="+mn-ea"/>
                          <a:cs typeface="+mn-cs"/>
                        </a:rPr>
                        <a:t>Careem (Safety Toolkit)</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800" b="1" kern="1200" dirty="0">
                          <a:solidFill>
                            <a:schemeClr val="tx1"/>
                          </a:solidFill>
                          <a:effectLst/>
                          <a:latin typeface="+mn-lt"/>
                          <a:ea typeface="+mn-ea"/>
                          <a:cs typeface="+mn-cs"/>
                        </a:rPr>
                        <a:t>RAHBAR</a:t>
                      </a:r>
                    </a:p>
                    <a:p>
                      <a:pPr marL="0" marR="0" algn="ctr">
                        <a:lnSpc>
                          <a:spcPct val="107000"/>
                        </a:lnSpc>
                        <a:spcBef>
                          <a:spcPts val="0"/>
                        </a:spcBef>
                        <a:spcAft>
                          <a:spcPts val="0"/>
                        </a:spcAft>
                      </a:pPr>
                      <a:r>
                        <a:rPr lang="en-US" sz="1800" b="1" kern="1200" dirty="0">
                          <a:solidFill>
                            <a:schemeClr val="tx1"/>
                          </a:solidFill>
                          <a:effectLst/>
                          <a:latin typeface="+mn-lt"/>
                          <a:ea typeface="+mn-ea"/>
                          <a:cs typeface="+mn-cs"/>
                        </a:rPr>
                        <a:t>(OUR)</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29669958"/>
                  </a:ext>
                </a:extLst>
              </a:tr>
              <a:tr h="0">
                <a:tc>
                  <a:txBody>
                    <a:bodyPr/>
                    <a:lstStyle/>
                    <a:p>
                      <a:pPr marL="0" marR="0" algn="ctr">
                        <a:lnSpc>
                          <a:spcPct val="107000"/>
                        </a:lnSpc>
                        <a:spcBef>
                          <a:spcPts val="0"/>
                        </a:spcBef>
                        <a:spcAft>
                          <a:spcPts val="0"/>
                        </a:spcAft>
                      </a:pPr>
                      <a:r>
                        <a:rPr lang="en-US" sz="1800" b="1" kern="1200" dirty="0">
                          <a:solidFill>
                            <a:schemeClr val="tx1"/>
                          </a:solidFill>
                          <a:effectLst/>
                          <a:latin typeface="+mn-lt"/>
                          <a:ea typeface="+mn-ea"/>
                          <a:cs typeface="+mn-cs"/>
                        </a:rPr>
                        <a:t>Proactive AI Threat Verification</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ctr" defTabSz="457200" rtl="0" eaLnBrk="1" fontAlgn="auto" latinLnBrk="0" hangingPunct="1">
                        <a:lnSpc>
                          <a:spcPct val="107000"/>
                        </a:lnSpc>
                        <a:spcBef>
                          <a:spcPts val="0"/>
                        </a:spcBef>
                        <a:spcAft>
                          <a:spcPts val="0"/>
                        </a:spcAft>
                        <a:buClrTx/>
                        <a:buSzTx/>
                        <a:buFont typeface="Wingdings" panose="05000000000000000000" pitchFamily="2" charset="2"/>
                        <a:buNone/>
                        <a:tabLst/>
                        <a:defRPr/>
                      </a:pPr>
                      <a:endParaRPr lang="en-US" sz="2000" dirty="0">
                        <a:solidFill>
                          <a:schemeClr val="tx1"/>
                        </a:solidFill>
                        <a:effectLst/>
                      </a:endParaRPr>
                    </a:p>
                    <a:p>
                      <a:pPr marL="0" marR="0" lvl="0" indent="0" algn="ctr" defTabSz="457200" rtl="0" eaLnBrk="1" fontAlgn="auto" latinLnBrk="0" hangingPunct="1">
                        <a:lnSpc>
                          <a:spcPct val="107000"/>
                        </a:lnSpc>
                        <a:spcBef>
                          <a:spcPts val="0"/>
                        </a:spcBef>
                        <a:spcAft>
                          <a:spcPts val="0"/>
                        </a:spcAft>
                        <a:buClrTx/>
                        <a:buSzTx/>
                        <a:buFont typeface="Wingdings" panose="05000000000000000000" pitchFamily="2" charset="2"/>
                        <a:buNone/>
                        <a:tabLst/>
                        <a:defRPr/>
                      </a:pPr>
                      <a:r>
                        <a:rPr lang="en-US" sz="2000" dirty="0">
                          <a:solidFill>
                            <a:schemeClr val="tx1"/>
                          </a:solidFill>
                          <a:effectLst/>
                        </a:rPr>
                        <a:t>X</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a:lnSpc>
                          <a:spcPct val="107000"/>
                        </a:lnSpc>
                        <a:spcBef>
                          <a:spcPts val="0"/>
                        </a:spcBef>
                        <a:spcAft>
                          <a:spcPts val="0"/>
                        </a:spcAft>
                        <a:buFont typeface="Wingdings" panose="05000000000000000000" pitchFamily="2" charset="2"/>
                        <a:buNone/>
                      </a:pPr>
                      <a:r>
                        <a:rPr lang="en-US" sz="2000" dirty="0">
                          <a:solidFill>
                            <a:schemeClr val="tx1"/>
                          </a:solidFill>
                          <a:effectLst/>
                        </a:rPr>
                        <a:t> </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solidFill>
                            <a:schemeClr val="tx1"/>
                          </a:solidFill>
                          <a:effectLst/>
                        </a:rPr>
                        <a:t>X</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solidFill>
                            <a:schemeClr val="tx1"/>
                          </a:solidFill>
                          <a:effectLst/>
                        </a:rPr>
                        <a:t>X</a:t>
                      </a:r>
                      <a:endParaRPr lang="en-US"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342900" marR="0" lvl="0" indent="-342900" algn="ctr">
                        <a:lnSpc>
                          <a:spcPct val="107000"/>
                        </a:lnSpc>
                        <a:spcBef>
                          <a:spcPts val="0"/>
                        </a:spcBef>
                        <a:spcAft>
                          <a:spcPts val="0"/>
                        </a:spcAft>
                        <a:buFont typeface="Wingdings" panose="05000000000000000000" pitchFamily="2" charset="2"/>
                        <a:buChar char=""/>
                      </a:pPr>
                      <a:r>
                        <a:rPr lang="en-US" sz="2000">
                          <a:solidFill>
                            <a:schemeClr val="tx1"/>
                          </a:solidFill>
                          <a:effectLst/>
                        </a:rPr>
                        <a:t> </a:t>
                      </a:r>
                      <a:endParaRPr lang="en-US"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18101644"/>
                  </a:ext>
                </a:extLst>
              </a:tr>
              <a:tr h="0">
                <a:tc>
                  <a:txBody>
                    <a:bodyPr/>
                    <a:lstStyle/>
                    <a:p>
                      <a:pPr marL="0" marR="0" algn="ctr">
                        <a:lnSpc>
                          <a:spcPct val="107000"/>
                        </a:lnSpc>
                        <a:spcBef>
                          <a:spcPts val="0"/>
                        </a:spcBef>
                        <a:spcAft>
                          <a:spcPts val="0"/>
                        </a:spcAft>
                      </a:pPr>
                      <a:r>
                        <a:rPr lang="en-US" sz="1800" b="1" kern="1200" dirty="0">
                          <a:solidFill>
                            <a:schemeClr val="tx1"/>
                          </a:solidFill>
                          <a:effectLst/>
                          <a:latin typeface="+mn-lt"/>
                          <a:ea typeface="+mn-ea"/>
                          <a:cs typeface="+mn-cs"/>
                        </a:rPr>
                        <a:t>Offline GPS and SMS Backup</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solidFill>
                            <a:schemeClr val="tx1"/>
                          </a:solidFill>
                          <a:effectLst/>
                        </a:rPr>
                        <a:t>X</a:t>
                      </a:r>
                      <a:endParaRPr lang="en-US"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ctr" defTabSz="457200" rtl="0" eaLnBrk="1" fontAlgn="auto" latinLnBrk="0" hangingPunct="1">
                        <a:lnSpc>
                          <a:spcPct val="107000"/>
                        </a:lnSpc>
                        <a:spcBef>
                          <a:spcPts val="0"/>
                        </a:spcBef>
                        <a:spcAft>
                          <a:spcPts val="0"/>
                        </a:spcAft>
                        <a:buClrTx/>
                        <a:buSzTx/>
                        <a:buFont typeface="Wingdings" panose="05000000000000000000" pitchFamily="2" charset="2"/>
                        <a:buNone/>
                        <a:tabLst/>
                        <a:defRPr/>
                      </a:pPr>
                      <a:endParaRPr lang="en-US" sz="2000" dirty="0">
                        <a:solidFill>
                          <a:schemeClr val="tx1"/>
                        </a:solidFill>
                        <a:effectLst/>
                      </a:endParaRPr>
                    </a:p>
                    <a:p>
                      <a:pPr marL="0" marR="0" lvl="0" indent="0" algn="ctr" defTabSz="457200" rtl="0" eaLnBrk="1" fontAlgn="auto" latinLnBrk="0" hangingPunct="1">
                        <a:lnSpc>
                          <a:spcPct val="107000"/>
                        </a:lnSpc>
                        <a:spcBef>
                          <a:spcPts val="0"/>
                        </a:spcBef>
                        <a:spcAft>
                          <a:spcPts val="0"/>
                        </a:spcAft>
                        <a:buClrTx/>
                        <a:buSzTx/>
                        <a:buFont typeface="Wingdings" panose="05000000000000000000" pitchFamily="2" charset="2"/>
                        <a:buNone/>
                        <a:tabLst/>
                        <a:defRPr/>
                      </a:pPr>
                      <a:r>
                        <a:rPr lang="en-US" sz="2000" dirty="0">
                          <a:solidFill>
                            <a:schemeClr val="tx1"/>
                          </a:solidFill>
                          <a:effectLst/>
                        </a:rPr>
                        <a:t>X</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a:lnSpc>
                          <a:spcPct val="107000"/>
                        </a:lnSpc>
                        <a:spcBef>
                          <a:spcPts val="0"/>
                        </a:spcBef>
                        <a:spcAft>
                          <a:spcPts val="0"/>
                        </a:spcAft>
                        <a:buFont typeface="Wingdings" panose="05000000000000000000" pitchFamily="2" charset="2"/>
                        <a:buNone/>
                      </a:pPr>
                      <a:r>
                        <a:rPr lang="en-US" sz="2000" dirty="0">
                          <a:solidFill>
                            <a:schemeClr val="tx1"/>
                          </a:solidFill>
                          <a:effectLst/>
                        </a:rPr>
                        <a:t> </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solidFill>
                            <a:schemeClr val="tx1"/>
                          </a:solidFill>
                          <a:effectLst/>
                        </a:rPr>
                        <a:t>X</a:t>
                      </a:r>
                      <a:endParaRPr lang="en-US"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342900" marR="0" lvl="0" indent="-342900" algn="ctr">
                        <a:lnSpc>
                          <a:spcPct val="107000"/>
                        </a:lnSpc>
                        <a:spcBef>
                          <a:spcPts val="0"/>
                        </a:spcBef>
                        <a:spcAft>
                          <a:spcPts val="0"/>
                        </a:spcAft>
                        <a:buFont typeface="Wingdings" panose="05000000000000000000" pitchFamily="2" charset="2"/>
                        <a:buChar char=""/>
                      </a:pPr>
                      <a:r>
                        <a:rPr lang="en-US" sz="2000" dirty="0">
                          <a:solidFill>
                            <a:schemeClr val="tx1"/>
                          </a:solidFill>
                          <a:effectLst/>
                        </a:rPr>
                        <a:t> </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76839425"/>
                  </a:ext>
                </a:extLst>
              </a:tr>
              <a:tr h="0">
                <a:tc>
                  <a:txBody>
                    <a:bodyPr/>
                    <a:lstStyle/>
                    <a:p>
                      <a:pPr marL="0" marR="0" algn="ctr">
                        <a:lnSpc>
                          <a:spcPct val="107000"/>
                        </a:lnSpc>
                        <a:spcBef>
                          <a:spcPts val="0"/>
                        </a:spcBef>
                        <a:spcAft>
                          <a:spcPts val="0"/>
                        </a:spcAft>
                      </a:pPr>
                      <a:r>
                        <a:rPr lang="en-US" sz="1800" b="1" kern="1200" dirty="0">
                          <a:solidFill>
                            <a:schemeClr val="tx1"/>
                          </a:solidFill>
                          <a:effectLst/>
                          <a:latin typeface="+mn-lt"/>
                          <a:ea typeface="+mn-ea"/>
                          <a:cs typeface="+mn-cs"/>
                        </a:rPr>
                        <a:t>Guardian Network Verification</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solidFill>
                            <a:schemeClr val="tx1"/>
                          </a:solidFill>
                          <a:effectLst/>
                        </a:rPr>
                        <a:t>X</a:t>
                      </a:r>
                      <a:endParaRPr lang="en-US"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342900" marR="0" lvl="0" indent="-342900" algn="ctr">
                        <a:lnSpc>
                          <a:spcPct val="107000"/>
                        </a:lnSpc>
                        <a:spcBef>
                          <a:spcPts val="0"/>
                        </a:spcBef>
                        <a:spcAft>
                          <a:spcPts val="0"/>
                        </a:spcAft>
                        <a:buFont typeface="Wingdings" panose="05000000000000000000" pitchFamily="2" charset="2"/>
                        <a:buChar char=""/>
                      </a:pPr>
                      <a:r>
                        <a:rPr lang="en-US" sz="2000">
                          <a:solidFill>
                            <a:schemeClr val="tx1"/>
                          </a:solidFill>
                          <a:effectLst/>
                        </a:rPr>
                        <a:t> </a:t>
                      </a:r>
                      <a:endParaRPr lang="en-US"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solidFill>
                            <a:schemeClr val="tx1"/>
                          </a:solidFill>
                          <a:effectLst/>
                        </a:rPr>
                        <a:t>X</a:t>
                      </a:r>
                      <a:endParaRPr lang="en-US"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342900" marR="0" lvl="0" indent="-342900" algn="ctr">
                        <a:lnSpc>
                          <a:spcPct val="107000"/>
                        </a:lnSpc>
                        <a:spcBef>
                          <a:spcPts val="0"/>
                        </a:spcBef>
                        <a:spcAft>
                          <a:spcPts val="0"/>
                        </a:spcAft>
                        <a:buFont typeface="Wingdings" panose="05000000000000000000" pitchFamily="2" charset="2"/>
                        <a:buChar char=""/>
                      </a:pPr>
                      <a:r>
                        <a:rPr lang="en-US" sz="2000">
                          <a:solidFill>
                            <a:schemeClr val="tx1"/>
                          </a:solidFill>
                          <a:effectLst/>
                        </a:rPr>
                        <a:t> </a:t>
                      </a:r>
                      <a:endParaRPr lang="en-US"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14058882"/>
                  </a:ext>
                </a:extLst>
              </a:tr>
              <a:tr h="0">
                <a:tc>
                  <a:txBody>
                    <a:bodyPr/>
                    <a:lstStyle/>
                    <a:p>
                      <a:pPr marL="0" marR="0" algn="ctr">
                        <a:lnSpc>
                          <a:spcPct val="107000"/>
                        </a:lnSpc>
                        <a:spcBef>
                          <a:spcPts val="0"/>
                        </a:spcBef>
                        <a:spcAft>
                          <a:spcPts val="0"/>
                        </a:spcAft>
                      </a:pPr>
                      <a:r>
                        <a:rPr lang="en-US" sz="1800" b="1" kern="1200" dirty="0">
                          <a:solidFill>
                            <a:schemeClr val="tx1"/>
                          </a:solidFill>
                          <a:effectLst/>
                          <a:latin typeface="+mn-lt"/>
                          <a:ea typeface="+mn-ea"/>
                          <a:cs typeface="+mn-cs"/>
                        </a:rPr>
                        <a:t>Direct Law Enforcement Dispatch</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342900" marR="0" lvl="0" indent="-342900" algn="ctr">
                        <a:lnSpc>
                          <a:spcPct val="107000"/>
                        </a:lnSpc>
                        <a:spcBef>
                          <a:spcPts val="0"/>
                        </a:spcBef>
                        <a:spcAft>
                          <a:spcPts val="0"/>
                        </a:spcAft>
                        <a:buFont typeface="Wingdings" panose="05000000000000000000" pitchFamily="2" charset="2"/>
                        <a:buChar char=""/>
                      </a:pPr>
                      <a:r>
                        <a:rPr lang="en-US" sz="2000">
                          <a:solidFill>
                            <a:schemeClr val="tx1"/>
                          </a:solidFill>
                          <a:effectLst/>
                        </a:rPr>
                        <a:t> </a:t>
                      </a:r>
                      <a:endParaRPr lang="en-US"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ctr" defTabSz="457200" rtl="0" eaLnBrk="1" fontAlgn="auto" latinLnBrk="0" hangingPunct="1">
                        <a:lnSpc>
                          <a:spcPct val="107000"/>
                        </a:lnSpc>
                        <a:spcBef>
                          <a:spcPts val="0"/>
                        </a:spcBef>
                        <a:spcAft>
                          <a:spcPts val="0"/>
                        </a:spcAft>
                        <a:buClrTx/>
                        <a:buSzTx/>
                        <a:buFont typeface="Wingdings" panose="05000000000000000000" pitchFamily="2" charset="2"/>
                        <a:buNone/>
                        <a:tabLst/>
                        <a:defRPr/>
                      </a:pPr>
                      <a:endParaRPr lang="en-US" sz="2000" dirty="0">
                        <a:solidFill>
                          <a:schemeClr val="tx1"/>
                        </a:solidFill>
                        <a:effectLst/>
                      </a:endParaRPr>
                    </a:p>
                    <a:p>
                      <a:pPr marL="0" marR="0" lvl="0" indent="0" algn="ctr" defTabSz="457200" rtl="0" eaLnBrk="1" fontAlgn="auto" latinLnBrk="0" hangingPunct="1">
                        <a:lnSpc>
                          <a:spcPct val="107000"/>
                        </a:lnSpc>
                        <a:spcBef>
                          <a:spcPts val="0"/>
                        </a:spcBef>
                        <a:spcAft>
                          <a:spcPts val="0"/>
                        </a:spcAft>
                        <a:buClrTx/>
                        <a:buSzTx/>
                        <a:buFont typeface="Wingdings" panose="05000000000000000000" pitchFamily="2" charset="2"/>
                        <a:buNone/>
                        <a:tabLst/>
                        <a:defRPr/>
                      </a:pPr>
                      <a:r>
                        <a:rPr lang="en-US" sz="2000" dirty="0">
                          <a:solidFill>
                            <a:schemeClr val="tx1"/>
                          </a:solidFill>
                          <a:effectLst/>
                        </a:rPr>
                        <a:t>X</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a:lnSpc>
                          <a:spcPct val="107000"/>
                        </a:lnSpc>
                        <a:spcBef>
                          <a:spcPts val="0"/>
                        </a:spcBef>
                        <a:spcAft>
                          <a:spcPts val="0"/>
                        </a:spcAft>
                        <a:buFont typeface="Wingdings" panose="05000000000000000000" pitchFamily="2" charset="2"/>
                        <a:buNone/>
                      </a:pPr>
                      <a:r>
                        <a:rPr lang="en-US" sz="2000" dirty="0">
                          <a:solidFill>
                            <a:schemeClr val="tx1"/>
                          </a:solidFill>
                          <a:effectLst/>
                        </a:rPr>
                        <a:t> </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342900" marR="0" lvl="0" indent="-342900" algn="ctr">
                        <a:lnSpc>
                          <a:spcPct val="107000"/>
                        </a:lnSpc>
                        <a:spcBef>
                          <a:spcPts val="0"/>
                        </a:spcBef>
                        <a:spcAft>
                          <a:spcPts val="0"/>
                        </a:spcAft>
                        <a:buFont typeface="Wingdings" panose="05000000000000000000" pitchFamily="2" charset="2"/>
                        <a:buChar char=""/>
                      </a:pPr>
                      <a:r>
                        <a:rPr lang="en-US" sz="2000">
                          <a:solidFill>
                            <a:schemeClr val="tx1"/>
                          </a:solidFill>
                          <a:effectLst/>
                        </a:rPr>
                        <a:t> </a:t>
                      </a:r>
                      <a:endParaRPr lang="en-US" sz="20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342900" marR="0" lvl="0" indent="-342900" algn="ctr">
                        <a:lnSpc>
                          <a:spcPct val="107000"/>
                        </a:lnSpc>
                        <a:spcBef>
                          <a:spcPts val="0"/>
                        </a:spcBef>
                        <a:spcAft>
                          <a:spcPts val="0"/>
                        </a:spcAft>
                        <a:buFont typeface="Wingdings" panose="05000000000000000000" pitchFamily="2" charset="2"/>
                        <a:buChar char=""/>
                      </a:pPr>
                      <a:r>
                        <a:rPr lang="en-US" sz="2000" dirty="0">
                          <a:solidFill>
                            <a:schemeClr val="tx1"/>
                          </a:solidFill>
                          <a:effectLst/>
                        </a:rPr>
                        <a:t> </a:t>
                      </a:r>
                      <a:endPar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586501018"/>
                  </a:ext>
                </a:extLst>
              </a:tr>
            </a:tbl>
          </a:graphicData>
        </a:graphic>
      </p:graphicFrame>
    </p:spTree>
    <p:extLst>
      <p:ext uri="{BB962C8B-B14F-4D97-AF65-F5344CB8AC3E}">
        <p14:creationId xmlns:p14="http://schemas.microsoft.com/office/powerpoint/2010/main" val="3768518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73430"/>
          </a:xfrm>
        </p:spPr>
        <p:txBody>
          <a:bodyPr/>
          <a:lstStyle/>
          <a:p>
            <a:r>
              <a:rPr lang="en-US" b="1" dirty="0"/>
              <a:t>Background </a:t>
            </a:r>
          </a:p>
        </p:txBody>
      </p:sp>
      <p:sp>
        <p:nvSpPr>
          <p:cNvPr id="3" name="Content Placeholder 2"/>
          <p:cNvSpPr>
            <a:spLocks noGrp="1"/>
          </p:cNvSpPr>
          <p:nvPr>
            <p:ph idx="1"/>
          </p:nvPr>
        </p:nvSpPr>
        <p:spPr>
          <a:xfrm>
            <a:off x="677334" y="1463359"/>
            <a:ext cx="8596668" cy="5188901"/>
          </a:xfrm>
        </p:spPr>
        <p:txBody>
          <a:bodyPr>
            <a:normAutofit/>
          </a:bodyPr>
          <a:lstStyle/>
          <a:p>
            <a:r>
              <a:rPr lang="en-US" sz="2000" dirty="0">
                <a:solidFill>
                  <a:schemeClr val="tx1"/>
                </a:solidFill>
              </a:rPr>
              <a:t>Problems with existing solutions:</a:t>
            </a:r>
          </a:p>
          <a:p>
            <a:pPr lvl="1"/>
            <a:r>
              <a:rPr lang="en-US" sz="1800" b="1" dirty="0"/>
              <a:t>Reactive Systems:</a:t>
            </a:r>
            <a:r>
              <a:rPr lang="en-US" sz="1800" dirty="0"/>
              <a:t> Existing safety apps only trigger </a:t>
            </a:r>
            <a:r>
              <a:rPr lang="en-US" sz="1800" i="1" dirty="0"/>
              <a:t>after</a:t>
            </a:r>
            <a:r>
              <a:rPr lang="en-US" sz="1800" dirty="0"/>
              <a:t> an emergency has started, offering no proactive protection.</a:t>
            </a:r>
            <a:endParaRPr lang="en-US" sz="1800" dirty="0">
              <a:solidFill>
                <a:schemeClr val="tx1"/>
              </a:solidFill>
            </a:endParaRPr>
          </a:p>
          <a:p>
            <a:pPr lvl="1"/>
            <a:r>
              <a:rPr lang="en-GB" sz="1800" b="1" dirty="0"/>
              <a:t>High Internet Dependency: </a:t>
            </a:r>
            <a:r>
              <a:rPr lang="en-US" sz="1800" dirty="0"/>
              <a:t>Live location tracking often freezes moment a user enters a 4G/cellular data dead zone.</a:t>
            </a:r>
          </a:p>
          <a:p>
            <a:pPr lvl="1"/>
            <a:r>
              <a:rPr lang="en-GB" sz="1800" b="1" dirty="0"/>
              <a:t>High Accidental SOS Rate:</a:t>
            </a:r>
            <a:r>
              <a:rPr lang="en-GB" sz="1800" dirty="0"/>
              <a:t> </a:t>
            </a:r>
            <a:r>
              <a:rPr lang="en-US" sz="1800" dirty="0"/>
              <a:t>Many panic alerts are triggered unintentionally, leading to false alarms.</a:t>
            </a:r>
          </a:p>
          <a:p>
            <a:pPr lvl="1"/>
            <a:r>
              <a:rPr lang="en-US" sz="1800" b="1" dirty="0"/>
              <a:t>Lack of Threat Verification:</a:t>
            </a:r>
            <a:r>
              <a:rPr lang="en-US" sz="1800" dirty="0"/>
              <a:t> Police dispatchers receive alerts and have no way to hear or see what is happening to confirm the danger before sending a patrol car.</a:t>
            </a:r>
          </a:p>
          <a:p>
            <a:pPr lvl="1"/>
            <a:r>
              <a:rPr lang="en-US" sz="1800" b="1" dirty="0"/>
              <a:t>Loss of Communication:</a:t>
            </a:r>
            <a:r>
              <a:rPr lang="en-US" sz="1800" dirty="0"/>
              <a:t> Parents and guardians lose all tracking contact with their children during sudden internet outages.</a:t>
            </a:r>
          </a:p>
          <a:p>
            <a:pPr lvl="1"/>
            <a:r>
              <a:rPr lang="en-US" sz="1800" b="1" dirty="0"/>
              <a:t>No Support in Critical Situations:</a:t>
            </a:r>
            <a:r>
              <a:rPr lang="en-US" sz="1800" dirty="0"/>
              <a:t> There is no automated backup system to call for help if a victim is knocked out, terrified, or physically unable to reach their phone.</a:t>
            </a:r>
          </a:p>
          <a:p>
            <a:pPr lvl="1"/>
            <a:endParaRPr lang="en-US" sz="1800" dirty="0">
              <a:solidFill>
                <a:schemeClr val="tx1"/>
              </a:solidFill>
            </a:endParaRPr>
          </a:p>
          <a:p>
            <a:endParaRPr lang="en-US" sz="2000" dirty="0">
              <a:solidFill>
                <a:schemeClr val="tx1"/>
              </a:solidFill>
            </a:endParaRPr>
          </a:p>
        </p:txBody>
      </p:sp>
    </p:spTree>
    <p:extLst>
      <p:ext uri="{BB962C8B-B14F-4D97-AF65-F5344CB8AC3E}">
        <p14:creationId xmlns:p14="http://schemas.microsoft.com/office/powerpoint/2010/main" val="3047277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71670"/>
            <a:ext cx="8596668" cy="767217"/>
          </a:xfrm>
        </p:spPr>
        <p:txBody>
          <a:bodyPr/>
          <a:lstStyle/>
          <a:p>
            <a:r>
              <a:rPr lang="en-US" b="1" dirty="0"/>
              <a:t>Background </a:t>
            </a:r>
          </a:p>
        </p:txBody>
      </p:sp>
      <p:sp>
        <p:nvSpPr>
          <p:cNvPr id="3" name="Content Placeholder 2"/>
          <p:cNvSpPr>
            <a:spLocks noGrp="1"/>
          </p:cNvSpPr>
          <p:nvPr>
            <p:ph idx="1"/>
          </p:nvPr>
        </p:nvSpPr>
        <p:spPr>
          <a:xfrm>
            <a:off x="677334" y="1038887"/>
            <a:ext cx="8596668" cy="5301569"/>
          </a:xfrm>
        </p:spPr>
        <p:txBody>
          <a:bodyPr>
            <a:normAutofit/>
          </a:bodyPr>
          <a:lstStyle/>
          <a:p>
            <a:r>
              <a:rPr lang="en-US" sz="2000" dirty="0">
                <a:solidFill>
                  <a:schemeClr val="tx1"/>
                </a:solidFill>
              </a:rPr>
              <a:t>Our approach:</a:t>
            </a:r>
          </a:p>
          <a:p>
            <a:pPr lvl="1"/>
            <a:r>
              <a:rPr lang="en-US" sz="1800" b="1" dirty="0"/>
              <a:t>Modern Safety Upgrade:</a:t>
            </a:r>
            <a:r>
              <a:rPr lang="en-US" sz="1800" dirty="0"/>
              <a:t> Replaces old, slow manual check-posts with a fast, highly responsive digital system.</a:t>
            </a:r>
          </a:p>
          <a:p>
            <a:pPr lvl="1"/>
            <a:r>
              <a:rPr lang="en-US" sz="1800" b="1" dirty="0"/>
              <a:t>On-Device AI Filtering:</a:t>
            </a:r>
            <a:r>
              <a:rPr lang="en-US" sz="1800" dirty="0"/>
              <a:t> Uses a lightweight AI model(example: </a:t>
            </a:r>
            <a:r>
              <a:rPr lang="en-GB" sz="1800" dirty="0"/>
              <a:t>YAMNet or a Quantized CNN)</a:t>
            </a:r>
            <a:r>
              <a:rPr lang="en-US" sz="1800" dirty="0"/>
              <a:t>  directly on the phone to silently detect true threats.</a:t>
            </a:r>
            <a:r>
              <a:rPr lang="en-US" sz="2000" b="1" dirty="0"/>
              <a:t> </a:t>
            </a:r>
          </a:p>
          <a:p>
            <a:pPr lvl="1"/>
            <a:r>
              <a:rPr lang="en-US" sz="1800" b="1" dirty="0"/>
              <a:t>Intelligent Verification Layer</a:t>
            </a:r>
            <a:r>
              <a:rPr lang="en-US" sz="2000" dirty="0"/>
              <a:t/>
            </a:r>
            <a:br>
              <a:rPr lang="en-US" sz="2000" dirty="0"/>
            </a:br>
            <a:r>
              <a:rPr lang="en-US" sz="1800" dirty="0"/>
              <a:t>Combines AI detection with human validation to minimize false alerts.</a:t>
            </a:r>
          </a:p>
          <a:p>
            <a:pPr lvl="1"/>
            <a:r>
              <a:rPr lang="en-GB" sz="1800" b="1" dirty="0"/>
              <a:t>Verified Alerts</a:t>
            </a:r>
            <a:r>
              <a:rPr lang="en-US" sz="1800" b="1" dirty="0"/>
              <a:t>:</a:t>
            </a:r>
            <a:r>
              <a:rPr lang="en-US" sz="1800" dirty="0"/>
              <a:t> Make sure  the Command Center only dispatches the police when an emergency is completely verified.</a:t>
            </a:r>
          </a:p>
          <a:p>
            <a:pPr lvl="1"/>
            <a:r>
              <a:rPr lang="en-GB" sz="1800" b="1" dirty="0"/>
              <a:t>Offline Resilience:</a:t>
            </a:r>
            <a:r>
              <a:rPr lang="en-GB" sz="1800" dirty="0"/>
              <a:t> </a:t>
            </a:r>
            <a:r>
              <a:rPr lang="en-US" sz="1800" dirty="0"/>
              <a:t>Provides an alternative tracking method when mobile data fails.</a:t>
            </a:r>
          </a:p>
          <a:p>
            <a:pPr lvl="1"/>
            <a:r>
              <a:rPr lang="en-US" sz="1800" b="1" dirty="0"/>
              <a:t>Automated SMS Backup:</a:t>
            </a:r>
            <a:r>
              <a:rPr lang="en-US" sz="1800" dirty="0"/>
              <a:t> Sends GPS coordinates through standard text messages if the 4G connection fails.</a:t>
            </a:r>
            <a:endParaRPr lang="en-US" sz="1800" dirty="0">
              <a:solidFill>
                <a:schemeClr val="tx1"/>
              </a:solidFill>
            </a:endParaRPr>
          </a:p>
          <a:p>
            <a:endParaRPr lang="en-US" sz="2000" dirty="0">
              <a:solidFill>
                <a:schemeClr val="tx1"/>
              </a:solidFill>
            </a:endParaRPr>
          </a:p>
        </p:txBody>
      </p:sp>
    </p:spTree>
    <p:extLst>
      <p:ext uri="{BB962C8B-B14F-4D97-AF65-F5344CB8AC3E}">
        <p14:creationId xmlns:p14="http://schemas.microsoft.com/office/powerpoint/2010/main" val="829080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50574"/>
            <a:ext cx="8596668" cy="662609"/>
          </a:xfrm>
        </p:spPr>
        <p:txBody>
          <a:bodyPr/>
          <a:lstStyle/>
          <a:p>
            <a:r>
              <a:rPr lang="en-US" b="1" dirty="0"/>
              <a:t>Learning </a:t>
            </a:r>
          </a:p>
        </p:txBody>
      </p:sp>
      <p:sp>
        <p:nvSpPr>
          <p:cNvPr id="3" name="Content Placeholder 2"/>
          <p:cNvSpPr>
            <a:spLocks noGrp="1"/>
          </p:cNvSpPr>
          <p:nvPr>
            <p:ph idx="1"/>
          </p:nvPr>
        </p:nvSpPr>
        <p:spPr>
          <a:xfrm>
            <a:off x="548125" y="1375398"/>
            <a:ext cx="8596668" cy="3880773"/>
          </a:xfrm>
        </p:spPr>
        <p:txBody>
          <a:bodyPr>
            <a:normAutofit/>
          </a:bodyPr>
          <a:lstStyle/>
          <a:p>
            <a:r>
              <a:rPr lang="en-US" sz="2000" b="1" dirty="0">
                <a:solidFill>
                  <a:schemeClr val="tx1"/>
                </a:solidFill>
              </a:rPr>
              <a:t>What technology will you use:</a:t>
            </a:r>
          </a:p>
          <a:p>
            <a:pPr lvl="1"/>
            <a:r>
              <a:rPr lang="en-US" sz="1800" dirty="0">
                <a:solidFill>
                  <a:schemeClr val="tx1"/>
                </a:solidFill>
              </a:rPr>
              <a:t> </a:t>
            </a:r>
            <a:r>
              <a:rPr lang="en-US" b="1" dirty="0"/>
              <a:t>Mobile Development:</a:t>
            </a:r>
            <a:r>
              <a:rPr lang="en-US" dirty="0"/>
              <a:t> Flutter, Native Android (Java/</a:t>
            </a:r>
            <a:r>
              <a:rPr lang="en-US" dirty="0" err="1"/>
              <a:t>Kotlin</a:t>
            </a:r>
            <a:r>
              <a:rPr lang="en-US" dirty="0"/>
              <a:t>).</a:t>
            </a:r>
            <a:endParaRPr lang="en-US" sz="1800" dirty="0">
              <a:solidFill>
                <a:schemeClr val="tx1"/>
              </a:solidFill>
            </a:endParaRPr>
          </a:p>
          <a:p>
            <a:pPr lvl="1"/>
            <a:r>
              <a:rPr lang="en-US" sz="1800" dirty="0">
                <a:solidFill>
                  <a:schemeClr val="tx1"/>
                </a:solidFill>
              </a:rPr>
              <a:t> </a:t>
            </a:r>
            <a:r>
              <a:rPr lang="en-US" b="1" dirty="0"/>
              <a:t>Backend and Telemetry:</a:t>
            </a:r>
            <a:r>
              <a:rPr lang="en-US" dirty="0"/>
              <a:t> Node.js/Python with real-time WebSockets and SMS Gateway APIs</a:t>
            </a:r>
            <a:endParaRPr lang="en-US" sz="1800" dirty="0">
              <a:solidFill>
                <a:schemeClr val="tx1"/>
              </a:solidFill>
            </a:endParaRPr>
          </a:p>
          <a:p>
            <a:pPr lvl="1"/>
            <a:r>
              <a:rPr lang="en-US" sz="1800" dirty="0">
                <a:solidFill>
                  <a:schemeClr val="tx1"/>
                </a:solidFill>
              </a:rPr>
              <a:t> </a:t>
            </a:r>
            <a:r>
              <a:rPr lang="en-US" b="1" dirty="0"/>
              <a:t>Artificial Intelligence:</a:t>
            </a:r>
            <a:r>
              <a:rPr lang="en-US" dirty="0"/>
              <a:t> TensorFlow Lite (for on-device acoustic anomaly detection)</a:t>
            </a:r>
            <a:endParaRPr lang="en-GB" dirty="0"/>
          </a:p>
          <a:p>
            <a:r>
              <a:rPr lang="en-US" sz="2000" b="1" dirty="0">
                <a:solidFill>
                  <a:schemeClr val="tx1"/>
                </a:solidFill>
              </a:rPr>
              <a:t>One skill that you will learn on your own during this project:</a:t>
            </a:r>
          </a:p>
          <a:p>
            <a:pPr marL="0" indent="0" algn="just">
              <a:buNone/>
            </a:pPr>
            <a:r>
              <a:rPr lang="en-US" dirty="0"/>
              <a:t>         Design and deployment an </a:t>
            </a:r>
            <a:r>
              <a:rPr lang="en-GB" b="1" dirty="0"/>
              <a:t>Offline Audio Classification Model </a:t>
            </a:r>
            <a:r>
              <a:rPr lang="en-GB" dirty="0"/>
              <a:t>(e.g., YAMNet or a Quantized CNN) </a:t>
            </a:r>
            <a:r>
              <a:rPr lang="en-US" dirty="0"/>
              <a:t>running locally on the device for real-time distress detection without cloud processing with make sure to protect user privacy, alongside developing an automated </a:t>
            </a:r>
            <a:r>
              <a:rPr lang="en-US" b="1" dirty="0"/>
              <a:t>SMS-based coordinate transmission</a:t>
            </a:r>
            <a:r>
              <a:rPr lang="en-US" dirty="0"/>
              <a:t> </a:t>
            </a:r>
            <a:r>
              <a:rPr lang="en-US" b="1" dirty="0"/>
              <a:t>payload for offline network resilience</a:t>
            </a:r>
            <a:r>
              <a:rPr lang="en-US" dirty="0"/>
              <a:t>.</a:t>
            </a:r>
            <a:endParaRPr lang="en-US" sz="2000" b="1" dirty="0">
              <a:solidFill>
                <a:schemeClr val="tx1"/>
              </a:solidFill>
            </a:endParaRPr>
          </a:p>
        </p:txBody>
      </p:sp>
    </p:spTree>
    <p:extLst>
      <p:ext uri="{BB962C8B-B14F-4D97-AF65-F5344CB8AC3E}">
        <p14:creationId xmlns:p14="http://schemas.microsoft.com/office/powerpoint/2010/main" val="1563515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50574"/>
            <a:ext cx="8596668" cy="662609"/>
          </a:xfrm>
        </p:spPr>
        <p:txBody>
          <a:bodyPr/>
          <a:lstStyle/>
          <a:p>
            <a:r>
              <a:rPr lang="en-US" b="1" dirty="0"/>
              <a:t>References</a:t>
            </a:r>
          </a:p>
        </p:txBody>
      </p:sp>
      <p:sp>
        <p:nvSpPr>
          <p:cNvPr id="3" name="Content Placeholder 2"/>
          <p:cNvSpPr>
            <a:spLocks noGrp="1"/>
          </p:cNvSpPr>
          <p:nvPr>
            <p:ph idx="1"/>
          </p:nvPr>
        </p:nvSpPr>
        <p:spPr>
          <a:xfrm>
            <a:off x="548125" y="1375398"/>
            <a:ext cx="8596668" cy="3880773"/>
          </a:xfrm>
        </p:spPr>
        <p:txBody>
          <a:bodyPr>
            <a:normAutofit/>
          </a:bodyPr>
          <a:lstStyle/>
          <a:p>
            <a:pPr marL="0" indent="0">
              <a:buNone/>
            </a:pPr>
            <a:r>
              <a:rPr lang="en-US" sz="2000" dirty="0"/>
              <a:t>[1]  </a:t>
            </a:r>
            <a:r>
              <a:rPr lang="en-US" sz="2000" dirty="0">
                <a:hlinkClick r:id="rId2"/>
              </a:rPr>
              <a:t>https://propakistani.pk/2026/05/07/punjab-launches-action-against-fake-calls-on-15-emergency-helpline/</a:t>
            </a:r>
            <a:r>
              <a:rPr lang="en-US" sz="2000" dirty="0"/>
              <a:t>). </a:t>
            </a:r>
          </a:p>
        </p:txBody>
      </p:sp>
    </p:spTree>
    <p:extLst>
      <p:ext uri="{BB962C8B-B14F-4D97-AF65-F5344CB8AC3E}">
        <p14:creationId xmlns:p14="http://schemas.microsoft.com/office/powerpoint/2010/main" val="229172149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Custom 1">
      <a:majorFont>
        <a:latin typeface="Times New Roman"/>
        <a:ea typeface=""/>
        <a:cs typeface=""/>
      </a:majorFont>
      <a:minorFont>
        <a:latin typeface="Times New Roman"/>
        <a:ea typeface=""/>
        <a:cs typeface=""/>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177</TotalTime>
  <Words>457</Words>
  <Application>Microsoft Office PowerPoint</Application>
  <PresentationFormat>Widescreen</PresentationFormat>
  <Paragraphs>104</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Times New Roman</vt:lpstr>
      <vt:lpstr>Wingdings</vt:lpstr>
      <vt:lpstr>Wingdings 3</vt:lpstr>
      <vt:lpstr>Facet</vt:lpstr>
      <vt:lpstr>Final Year Project Proposal</vt:lpstr>
      <vt:lpstr>Student Details</vt:lpstr>
      <vt:lpstr>Project Details</vt:lpstr>
      <vt:lpstr>Project Details</vt:lpstr>
      <vt:lpstr>Project Details</vt:lpstr>
      <vt:lpstr>Background </vt:lpstr>
      <vt:lpstr>Background </vt:lpstr>
      <vt:lpstr>Background </vt:lpstr>
      <vt:lpstr>Learning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Year Project Proposal</dc:title>
  <dc:creator>Sadia Khalid</dc:creator>
  <cp:lastModifiedBy>itxsheikh jawad</cp:lastModifiedBy>
  <cp:revision>29</cp:revision>
  <dcterms:created xsi:type="dcterms:W3CDTF">2026-04-13T10:05:06Z</dcterms:created>
  <dcterms:modified xsi:type="dcterms:W3CDTF">2026-05-10T15:04:04Z</dcterms:modified>
</cp:coreProperties>
</file>